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89" r:id="rId5"/>
    <p:sldId id="290" r:id="rId6"/>
    <p:sldId id="259" r:id="rId7"/>
    <p:sldId id="260" r:id="rId8"/>
    <p:sldId id="269" r:id="rId9"/>
    <p:sldId id="278" r:id="rId10"/>
    <p:sldId id="279" r:id="rId11"/>
    <p:sldId id="280" r:id="rId12"/>
    <p:sldId id="263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77BD6-3519-48FD-8D1A-60061C8EF7DC}" v="2" dt="2026-05-06T19:32:26.0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7"/>
    <p:restoredTop sz="94658" autoAdjust="0"/>
  </p:normalViewPr>
  <p:slideViewPr>
    <p:cSldViewPr>
      <p:cViewPr varScale="1">
        <p:scale>
          <a:sx n="78" d="100"/>
          <a:sy n="78" d="100"/>
        </p:scale>
        <p:origin x="130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la Ostos" userId="892cb52e-8606-49f4-9ecb-aae37f0a1afd" providerId="ADAL" clId="{14B65956-8FE7-4B18-8923-0A1A659B3063}"/>
    <pc:docChg chg="undo custSel modSld sldOrd">
      <pc:chgData name="Fabiola Ostos" userId="892cb52e-8606-49f4-9ecb-aae37f0a1afd" providerId="ADAL" clId="{14B65956-8FE7-4B18-8923-0A1A659B3063}" dt="2026-05-06T19:36:22.864" v="1104" actId="20577"/>
      <pc:docMkLst>
        <pc:docMk/>
      </pc:docMkLst>
      <pc:sldChg chg="modSp mod">
        <pc:chgData name="Fabiola Ostos" userId="892cb52e-8606-49f4-9ecb-aae37f0a1afd" providerId="ADAL" clId="{14B65956-8FE7-4B18-8923-0A1A659B3063}" dt="2026-05-06T14:16:41.036" v="402" actId="13926"/>
        <pc:sldMkLst>
          <pc:docMk/>
          <pc:sldMk cId="0" sldId="257"/>
        </pc:sldMkLst>
        <pc:spChg chg="mod">
          <ac:chgData name="Fabiola Ostos" userId="892cb52e-8606-49f4-9ecb-aae37f0a1afd" providerId="ADAL" clId="{14B65956-8FE7-4B18-8923-0A1A659B3063}" dt="2026-05-06T14:16:41.036" v="402" actId="13926"/>
          <ac:spMkLst>
            <pc:docMk/>
            <pc:sldMk cId="0" sldId="257"/>
            <ac:spMk id="4" creationId="{41CD28AD-305F-8E50-2B7F-ECFF7E041FD6}"/>
          </ac:spMkLst>
        </pc:spChg>
      </pc:sldChg>
      <pc:sldChg chg="modSp mod">
        <pc:chgData name="Fabiola Ostos" userId="892cb52e-8606-49f4-9ecb-aae37f0a1afd" providerId="ADAL" clId="{14B65956-8FE7-4B18-8923-0A1A659B3063}" dt="2026-05-06T19:34:33.884" v="981" actId="20577"/>
        <pc:sldMkLst>
          <pc:docMk/>
          <pc:sldMk cId="0" sldId="258"/>
        </pc:sldMkLst>
        <pc:spChg chg="mod">
          <ac:chgData name="Fabiola Ostos" userId="892cb52e-8606-49f4-9ecb-aae37f0a1afd" providerId="ADAL" clId="{14B65956-8FE7-4B18-8923-0A1A659B3063}" dt="2026-05-06T19:34:33.884" v="981" actId="20577"/>
          <ac:spMkLst>
            <pc:docMk/>
            <pc:sldMk cId="0" sldId="258"/>
            <ac:spMk id="7" creationId="{6D6D1536-7656-584B-C936-6CEE2CFFD7CE}"/>
          </ac:spMkLst>
        </pc:spChg>
        <pc:spChg chg="mod">
          <ac:chgData name="Fabiola Ostos" userId="892cb52e-8606-49f4-9ecb-aae37f0a1afd" providerId="ADAL" clId="{14B65956-8FE7-4B18-8923-0A1A659B3063}" dt="2026-05-06T19:30:52.915" v="519" actId="113"/>
          <ac:spMkLst>
            <pc:docMk/>
            <pc:sldMk cId="0" sldId="258"/>
            <ac:spMk id="8" creationId="{135024C6-FBDC-EF6D-413D-7CE62DBF6FC3}"/>
          </ac:spMkLst>
        </pc:spChg>
        <pc:spChg chg="mod">
          <ac:chgData name="Fabiola Ostos" userId="892cb52e-8606-49f4-9ecb-aae37f0a1afd" providerId="ADAL" clId="{14B65956-8FE7-4B18-8923-0A1A659B3063}" dt="2026-05-06T19:29:14.316" v="450" actId="20577"/>
          <ac:spMkLst>
            <pc:docMk/>
            <pc:sldMk cId="0" sldId="258"/>
            <ac:spMk id="15" creationId="{97F6135E-A1E8-7DFE-1691-2B380280E7DC}"/>
          </ac:spMkLst>
        </pc:spChg>
        <pc:picChg chg="mod">
          <ac:chgData name="Fabiola Ostos" userId="892cb52e-8606-49f4-9ecb-aae37f0a1afd" providerId="ADAL" clId="{14B65956-8FE7-4B18-8923-0A1A659B3063}" dt="2026-05-06T14:15:43.116" v="395" actId="1076"/>
          <ac:picMkLst>
            <pc:docMk/>
            <pc:sldMk cId="0" sldId="258"/>
            <ac:picMk id="4" creationId="{C7C3C835-3144-E5CA-683B-37095FD79AE8}"/>
          </ac:picMkLst>
        </pc:picChg>
        <pc:picChg chg="mod">
          <ac:chgData name="Fabiola Ostos" userId="892cb52e-8606-49f4-9ecb-aae37f0a1afd" providerId="ADAL" clId="{14B65956-8FE7-4B18-8923-0A1A659B3063}" dt="2026-05-06T14:15:50.461" v="396" actId="1076"/>
          <ac:picMkLst>
            <pc:docMk/>
            <pc:sldMk cId="0" sldId="258"/>
            <ac:picMk id="9" creationId="{C9B4E619-BA68-90D7-1BBC-82489F9D4CF0}"/>
          </ac:picMkLst>
        </pc:picChg>
        <pc:picChg chg="mod">
          <ac:chgData name="Fabiola Ostos" userId="892cb52e-8606-49f4-9ecb-aae37f0a1afd" providerId="ADAL" clId="{14B65956-8FE7-4B18-8923-0A1A659B3063}" dt="2026-05-06T14:15:54.793" v="397" actId="1076"/>
          <ac:picMkLst>
            <pc:docMk/>
            <pc:sldMk cId="0" sldId="258"/>
            <ac:picMk id="12" creationId="{536AF42E-6D92-0BD0-010E-8293FF6358A6}"/>
          </ac:picMkLst>
        </pc:picChg>
        <pc:picChg chg="mod">
          <ac:chgData name="Fabiola Ostos" userId="892cb52e-8606-49f4-9ecb-aae37f0a1afd" providerId="ADAL" clId="{14B65956-8FE7-4B18-8923-0A1A659B3063}" dt="2026-05-06T14:16:21.238" v="401" actId="14100"/>
          <ac:picMkLst>
            <pc:docMk/>
            <pc:sldMk cId="0" sldId="258"/>
            <ac:picMk id="14" creationId="{ED297FC1-29F2-61E7-EF07-E2EC403B0E1E}"/>
          </ac:picMkLst>
        </pc:picChg>
      </pc:sldChg>
      <pc:sldChg chg="ord">
        <pc:chgData name="Fabiola Ostos" userId="892cb52e-8606-49f4-9ecb-aae37f0a1afd" providerId="ADAL" clId="{14B65956-8FE7-4B18-8923-0A1A659B3063}" dt="2026-05-05T23:52:37.962" v="203"/>
        <pc:sldMkLst>
          <pc:docMk/>
          <pc:sldMk cId="0" sldId="259"/>
        </pc:sldMkLst>
      </pc:sldChg>
      <pc:sldChg chg="modSp mod">
        <pc:chgData name="Fabiola Ostos" userId="892cb52e-8606-49f4-9ecb-aae37f0a1afd" providerId="ADAL" clId="{14B65956-8FE7-4B18-8923-0A1A659B3063}" dt="2026-05-06T19:36:22.864" v="1104" actId="20577"/>
        <pc:sldMkLst>
          <pc:docMk/>
          <pc:sldMk cId="0" sldId="263"/>
        </pc:sldMkLst>
        <pc:spChg chg="mod">
          <ac:chgData name="Fabiola Ostos" userId="892cb52e-8606-49f4-9ecb-aae37f0a1afd" providerId="ADAL" clId="{14B65956-8FE7-4B18-8923-0A1A659B3063}" dt="2026-05-06T19:36:22.864" v="1104" actId="20577"/>
          <ac:spMkLst>
            <pc:docMk/>
            <pc:sldMk cId="0" sldId="263"/>
            <ac:spMk id="2" creationId="{27047634-E5E7-CAF5-D104-F617B57635B2}"/>
          </ac:spMkLst>
        </pc:spChg>
      </pc:sldChg>
      <pc:sldChg chg="modSp mod">
        <pc:chgData name="Fabiola Ostos" userId="892cb52e-8606-49f4-9ecb-aae37f0a1afd" providerId="ADAL" clId="{14B65956-8FE7-4B18-8923-0A1A659B3063}" dt="2026-05-06T19:28:44.812" v="424" actId="1076"/>
        <pc:sldMkLst>
          <pc:docMk/>
          <pc:sldMk cId="813959639" sldId="289"/>
        </pc:sldMkLst>
        <pc:spChg chg="mod">
          <ac:chgData name="Fabiola Ostos" userId="892cb52e-8606-49f4-9ecb-aae37f0a1afd" providerId="ADAL" clId="{14B65956-8FE7-4B18-8923-0A1A659B3063}" dt="2026-05-06T19:28:37.042" v="422" actId="1076"/>
          <ac:spMkLst>
            <pc:docMk/>
            <pc:sldMk cId="813959639" sldId="289"/>
            <ac:spMk id="5" creationId="{4E27AED8-A95A-DD62-983F-9FC5171E49A0}"/>
          </ac:spMkLst>
        </pc:spChg>
        <pc:spChg chg="mod">
          <ac:chgData name="Fabiola Ostos" userId="892cb52e-8606-49f4-9ecb-aae37f0a1afd" providerId="ADAL" clId="{14B65956-8FE7-4B18-8923-0A1A659B3063}" dt="2026-05-06T19:28:44.812" v="424" actId="1076"/>
          <ac:spMkLst>
            <pc:docMk/>
            <pc:sldMk cId="813959639" sldId="289"/>
            <ac:spMk id="8" creationId="{E1F69C69-449E-DC78-A82F-18CD1BBDDE00}"/>
          </ac:spMkLst>
        </pc:spChg>
        <pc:picChg chg="mod">
          <ac:chgData name="Fabiola Ostos" userId="892cb52e-8606-49f4-9ecb-aae37f0a1afd" providerId="ADAL" clId="{14B65956-8FE7-4B18-8923-0A1A659B3063}" dt="2026-05-06T19:28:40.597" v="423" actId="1076"/>
          <ac:picMkLst>
            <pc:docMk/>
            <pc:sldMk cId="813959639" sldId="289"/>
            <ac:picMk id="7" creationId="{E7AB0CB1-8798-A630-4647-40350A3CEABF}"/>
          </ac:picMkLst>
        </pc:picChg>
      </pc:sldChg>
      <pc:sldChg chg="modSp mod">
        <pc:chgData name="Fabiola Ostos" userId="892cb52e-8606-49f4-9ecb-aae37f0a1afd" providerId="ADAL" clId="{14B65956-8FE7-4B18-8923-0A1A659B3063}" dt="2026-05-06T19:28:23.246" v="419" actId="1076"/>
        <pc:sldMkLst>
          <pc:docMk/>
          <pc:sldMk cId="2654272242" sldId="290"/>
        </pc:sldMkLst>
        <pc:spChg chg="mod">
          <ac:chgData name="Fabiola Ostos" userId="892cb52e-8606-49f4-9ecb-aae37f0a1afd" providerId="ADAL" clId="{14B65956-8FE7-4B18-8923-0A1A659B3063}" dt="2026-05-06T14:18:15.927" v="416" actId="1076"/>
          <ac:spMkLst>
            <pc:docMk/>
            <pc:sldMk cId="2654272242" sldId="290"/>
            <ac:spMk id="7" creationId="{0BB224D3-2EA8-7C21-D5E3-E1396CD507A8}"/>
          </ac:spMkLst>
        </pc:spChg>
        <pc:spChg chg="mod">
          <ac:chgData name="Fabiola Ostos" userId="892cb52e-8606-49f4-9ecb-aae37f0a1afd" providerId="ADAL" clId="{14B65956-8FE7-4B18-8923-0A1A659B3063}" dt="2026-05-06T19:28:23.246" v="419" actId="1076"/>
          <ac:spMkLst>
            <pc:docMk/>
            <pc:sldMk cId="2654272242" sldId="290"/>
            <ac:spMk id="9" creationId="{2FD442CF-FA7C-2ED7-24CB-B66EDFE7A258}"/>
          </ac:spMkLst>
        </pc:spChg>
        <pc:picChg chg="mod">
          <ac:chgData name="Fabiola Ostos" userId="892cb52e-8606-49f4-9ecb-aae37f0a1afd" providerId="ADAL" clId="{14B65956-8FE7-4B18-8923-0A1A659B3063}" dt="2026-05-06T14:18:21.116" v="418" actId="14100"/>
          <ac:picMkLst>
            <pc:docMk/>
            <pc:sldMk cId="2654272242" sldId="290"/>
            <ac:picMk id="4" creationId="{EBBAFE2B-EC05-8FC7-6B25-A63529BAEC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74869-755F-6F4B-B50B-958F87FEEEE2}" type="datetimeFigureOut">
              <a:rPr lang="es-ES_tradnl" smtClean="0"/>
              <a:t>05/05/2026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46515-30C5-F64D-B2AF-070179D2C920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069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5C6E-8139-A966-0933-57B39FB2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0BB8C-4019-E1BB-47BD-B4A348BB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60972-6CC3-6318-558C-AF3C7B384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5F8D0-FF94-055A-52BF-6B9EFBDC7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E46515-30C5-F64D-B2AF-070179D2C920}" type="slidenum">
              <a:rPr kumimoji="0" lang="es-ES_tradnl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8143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E46515-30C5-F64D-B2AF-070179D2C920}" type="slidenum">
              <a:rPr kumimoji="0" lang="es-ES_tradnl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5494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3810"/>
            <a:ext cx="5497195" cy="518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9" y="616908"/>
            <a:ext cx="5903621" cy="978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94AB3-E3EC-0040-7A4D-C261FB9BC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EB2973-3274-CA40-3239-B3DA64B3B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D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A681BB-D8C5-48C6-8288-F76C94D6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BBF8-274E-415C-8F99-AC458F687D58}" type="datetimeFigureOut">
              <a:rPr lang="es-DO" smtClean="0"/>
              <a:t>5/5/2026</a:t>
            </a:fld>
            <a:endParaRPr lang="es-D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7FB5AF-7028-8147-1000-0D47F1081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1E94D-989A-458D-7541-42962F5B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BB35-FEE7-4A29-8CF2-A1AED01D35B5}" type="slidenum">
              <a:rPr lang="es-DO" smtClean="0"/>
              <a:t>‹#›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0606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4444"/>
            <a:ext cx="4782185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62200"/>
            <a:ext cx="6410324" cy="1885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9600" y="4395406"/>
            <a:ext cx="5800723" cy="746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ts val="2865"/>
              </a:lnSpc>
              <a:spcBef>
                <a:spcPts val="100"/>
              </a:spcBef>
            </a:pPr>
            <a:r>
              <a:rPr sz="2400" spc="-90" dirty="0">
                <a:latin typeface="Fahkwang" pitchFamily="2" charset="-34"/>
                <a:cs typeface="Fahkwang" pitchFamily="2" charset="-34"/>
              </a:rPr>
              <a:t>Informe</a:t>
            </a:r>
            <a:r>
              <a:rPr sz="2400" spc="-19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50" dirty="0">
                <a:latin typeface="Fahkwang" pitchFamily="2" charset="-34"/>
                <a:cs typeface="Fahkwang" pitchFamily="2" charset="-34"/>
              </a:rPr>
              <a:t>de</a:t>
            </a:r>
            <a:r>
              <a:rPr sz="2400" spc="-19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dirty="0">
                <a:latin typeface="Fahkwang" pitchFamily="2" charset="-34"/>
                <a:cs typeface="Fahkwang" pitchFamily="2" charset="-34"/>
              </a:rPr>
              <a:t>Ventas</a:t>
            </a:r>
            <a:r>
              <a:rPr sz="2400" spc="-175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135" dirty="0">
                <a:latin typeface="Fahkwang" pitchFamily="2" charset="-34"/>
                <a:cs typeface="Fahkwang" pitchFamily="2" charset="-34"/>
              </a:rPr>
              <a:t>ARAYA</a:t>
            </a:r>
            <a:r>
              <a:rPr sz="2400" spc="-160" dirty="0">
                <a:latin typeface="Fahkwang" pitchFamily="2" charset="-34"/>
                <a:cs typeface="Fahkwang" pitchFamily="2" charset="-34"/>
              </a:rPr>
              <a:t> </a:t>
            </a:r>
            <a:r>
              <a:rPr sz="2400" spc="-305" dirty="0">
                <a:latin typeface="Fahkwang" pitchFamily="2" charset="-34"/>
                <a:cs typeface="Fahkwang" pitchFamily="2" charset="-34"/>
              </a:rPr>
              <a:t>I</a:t>
            </a:r>
            <a:endParaRPr lang="en-US" sz="2400" dirty="0">
              <a:latin typeface="Fahkwang" pitchFamily="2" charset="-34"/>
              <a:cs typeface="Fahkwang" pitchFamily="2" charset="-34"/>
            </a:endParaRPr>
          </a:p>
          <a:p>
            <a:pPr marL="2440305" algn="r">
              <a:lnSpc>
                <a:spcPts val="2865"/>
              </a:lnSpc>
            </a:pPr>
            <a:r>
              <a:rPr lang="en-US" sz="2400" b="1" spc="-114" dirty="0">
                <a:latin typeface="Fahkwang" pitchFamily="2" charset="-34"/>
                <a:cs typeface="Fahkwang" pitchFamily="2" charset="-34"/>
              </a:rPr>
              <a:t>ABRIL </a:t>
            </a:r>
            <a:r>
              <a:rPr lang="en-US" sz="2400" b="1" spc="65" dirty="0">
                <a:latin typeface="Fahkwang" pitchFamily="2" charset="-34"/>
                <a:cs typeface="Fahkwang" pitchFamily="2" charset="-34"/>
              </a:rPr>
              <a:t>2026</a:t>
            </a:r>
            <a:endParaRPr lang="en-US" sz="2400" b="1" dirty="0">
              <a:latin typeface="Fahkwang" pitchFamily="2" charset="-34"/>
              <a:cs typeface="Fahkwang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967C8F75-CBEF-4574-ABA3-623DF2E0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23" t="4842" r="8323" b="2948"/>
          <a:stretch>
            <a:fillRect/>
          </a:stretch>
        </p:blipFill>
        <p:spPr>
          <a:xfrm>
            <a:off x="90564" y="866055"/>
            <a:ext cx="3588607" cy="25222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F0F951F-BA9D-A77C-BB8C-6ECBE765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816042"/>
            <a:ext cx="10287000" cy="29935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312E742-FE12-EE2A-05A2-1825D3A825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8" r="2469"/>
          <a:stretch>
            <a:fillRect/>
          </a:stretch>
        </p:blipFill>
        <p:spPr>
          <a:xfrm>
            <a:off x="6745747" y="2457260"/>
            <a:ext cx="2245853" cy="21980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spc="-33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pc="-10" dirty="0" err="1">
                <a:latin typeface="Fahkwang" pitchFamily="2" charset="-34"/>
                <a:cs typeface="Fahkwang" pitchFamily="2" charset="-34"/>
              </a:rPr>
              <a:t>Totales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A9BD3D-4223-76EF-6B4B-25131A18512A}"/>
              </a:ext>
            </a:extLst>
          </p:cNvPr>
          <p:cNvSpPr txBox="1"/>
          <p:nvPr/>
        </p:nvSpPr>
        <p:spPr>
          <a:xfrm>
            <a:off x="2965901" y="855586"/>
            <a:ext cx="188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Ariel Grasso</a:t>
            </a:r>
            <a:endParaRPr lang="es-ES_tradnl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A9D43-F4C5-EDA6-7957-3FBF5809B15E}"/>
              </a:ext>
            </a:extLst>
          </p:cNvPr>
          <p:cNvSpPr txBox="1"/>
          <p:nvPr/>
        </p:nvSpPr>
        <p:spPr>
          <a:xfrm>
            <a:off x="3157140" y="3231263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Punta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Cana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Solution</a:t>
            </a:r>
            <a:endParaRPr lang="es-ES_tradnl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B4636-F47A-36CE-47F4-B056C72EDE28}"/>
              </a:ext>
            </a:extLst>
          </p:cNvPr>
          <p:cNvSpPr txBox="1"/>
          <p:nvPr/>
        </p:nvSpPr>
        <p:spPr>
          <a:xfrm>
            <a:off x="-485898" y="2039505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Plusval</a:t>
            </a:r>
            <a:endParaRPr lang="es-ES_tradnl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8E5376-9C5F-05DB-7A5A-05929922A6D5}"/>
              </a:ext>
            </a:extLst>
          </p:cNvPr>
          <p:cNvSpPr txBox="1"/>
          <p:nvPr/>
        </p:nvSpPr>
        <p:spPr>
          <a:xfrm>
            <a:off x="-87309" y="2891074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latin typeface="Fahkwang" pitchFamily="2" charset="-34"/>
                <a:cs typeface="Fahkwang" pitchFamily="2" charset="-34"/>
              </a:rPr>
              <a:t>Equipo ARAYA</a:t>
            </a:r>
            <a:endParaRPr lang="es-ES_tradnl" sz="1200" dirty="0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5B7A5A7-4B8B-AB9D-AD1F-1FA1FAA8C8CC}"/>
              </a:ext>
            </a:extLst>
          </p:cNvPr>
          <p:cNvSpPr txBox="1"/>
          <p:nvPr/>
        </p:nvSpPr>
        <p:spPr>
          <a:xfrm>
            <a:off x="3387254" y="2166333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Cumbre</a:t>
            </a:r>
            <a:endParaRPr lang="es-ES_tradnl" sz="12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1CD28AD-305F-8E50-2B7F-ECFF7E041FD6}"/>
              </a:ext>
            </a:extLst>
          </p:cNvPr>
          <p:cNvSpPr txBox="1"/>
          <p:nvPr/>
        </p:nvSpPr>
        <p:spPr>
          <a:xfrm>
            <a:off x="8001000" y="967880"/>
            <a:ext cx="3756594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spc="55" dirty="0">
                <a:latin typeface="Fahkwang" pitchFamily="2" charset="-34"/>
                <a:cs typeface="Fahkwang" pitchFamily="2" charset="-34"/>
              </a:rPr>
              <a:t>236</a:t>
            </a:r>
            <a:r>
              <a:rPr lang="pt-BR" sz="1600" spc="-5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600" dirty="0">
                <a:latin typeface="Fahkwang" pitchFamily="2" charset="-34"/>
                <a:cs typeface="Fahkwang" pitchFamily="2" charset="-34"/>
              </a:rPr>
              <a:t>Reservadas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dirty="0">
                <a:latin typeface="Fahkwang" pitchFamily="2" charset="-34"/>
                <a:cs typeface="Fahkwang" pitchFamily="2" charset="-34"/>
              </a:rPr>
              <a:t>19.6 por Mes.</a:t>
            </a:r>
          </a:p>
          <a:p>
            <a:pPr marL="12700" algn="r">
              <a:spcBef>
                <a:spcPts val="100"/>
              </a:spcBef>
            </a:pPr>
            <a:r>
              <a:rPr lang="pt-BR" sz="2400" b="1" spc="55" dirty="0">
                <a:latin typeface="Fahkwang" pitchFamily="2" charset="-34"/>
                <a:cs typeface="Fahkwang" pitchFamily="2" charset="-34"/>
              </a:rPr>
              <a:t>197 </a:t>
            </a:r>
            <a:r>
              <a:rPr lang="pt-BR" sz="2400" b="1" spc="55" dirty="0" err="1">
                <a:latin typeface="Fahkwang" pitchFamily="2" charset="-34"/>
                <a:cs typeface="Fahkwang" pitchFamily="2" charset="-34"/>
              </a:rPr>
              <a:t>Activas</a:t>
            </a:r>
            <a:endParaRPr lang="pt-BR" sz="2400" b="1" spc="55" dirty="0">
              <a:latin typeface="Fahkwang" pitchFamily="2" charset="-34"/>
              <a:cs typeface="Fahkwang" pitchFamily="2" charset="-34"/>
            </a:endParaRP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t-BR" sz="1600" b="1" dirty="0">
                <a:latin typeface="Fahkwang" pitchFamily="2" charset="-34"/>
                <a:cs typeface="Fahkwang" pitchFamily="2" charset="-34"/>
              </a:rPr>
              <a:t>16.41 por Mes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CD837D-DCF3-B9F0-4ECB-9818348ED1D0}"/>
              </a:ext>
            </a:extLst>
          </p:cNvPr>
          <p:cNvSpPr txBox="1"/>
          <p:nvPr/>
        </p:nvSpPr>
        <p:spPr>
          <a:xfrm>
            <a:off x="3387254" y="2457260"/>
            <a:ext cx="24036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Lacig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By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Keller Williams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0E8B30B-11AA-CB25-28AD-E08D7F31F805}"/>
              </a:ext>
            </a:extLst>
          </p:cNvPr>
          <p:cNvSpPr txBox="1"/>
          <p:nvPr/>
        </p:nvSpPr>
        <p:spPr>
          <a:xfrm>
            <a:off x="3490677" y="2713693"/>
            <a:ext cx="25171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latin typeface="Fahkwang" pitchFamily="2" charset="-34"/>
                <a:cs typeface="Fahkwang" pitchFamily="2" charset="-34"/>
              </a:rPr>
              <a:t>Mundo </a:t>
            </a:r>
            <a:r>
              <a:rPr lang="pt-BR" sz="1200" dirty="0" err="1">
                <a:latin typeface="Fahkwang" pitchFamily="2" charset="-34"/>
                <a:cs typeface="Fahkwang" pitchFamily="2" charset="-34"/>
              </a:rPr>
              <a:t>Inmobiliario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del Caribe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BE106BE2-0C0E-DC1B-AA2E-D74281D217CC}"/>
              </a:ext>
            </a:extLst>
          </p:cNvPr>
          <p:cNvSpPr txBox="1"/>
          <p:nvPr/>
        </p:nvSpPr>
        <p:spPr>
          <a:xfrm>
            <a:off x="3157140" y="2970126"/>
            <a:ext cx="1905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 err="1">
                <a:latin typeface="Fahkwang" pitchFamily="2" charset="-34"/>
                <a:cs typeface="Fahkwang" pitchFamily="2" charset="-34"/>
              </a:rPr>
              <a:t>Remax</a:t>
            </a:r>
            <a:r>
              <a:rPr lang="pt-BR" sz="1200" dirty="0">
                <a:latin typeface="Fahkwang" pitchFamily="2" charset="-34"/>
                <a:cs typeface="Fahkwang" pitchFamily="2" charset="-34"/>
              </a:rPr>
              <a:t> Paradise</a:t>
            </a:r>
            <a:endParaRPr lang="es-ES_tradnl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6AA754-ED51-60C5-FD46-952CD9119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13177"/>
            <a:ext cx="11097408" cy="3297192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CED71B59-D1D9-4C93-6E86-89D9D58BC95A}"/>
              </a:ext>
            </a:extLst>
          </p:cNvPr>
          <p:cNvSpPr txBox="1"/>
          <p:nvPr/>
        </p:nvSpPr>
        <p:spPr>
          <a:xfrm>
            <a:off x="533400" y="5105400"/>
            <a:ext cx="11049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i="1" spc="45" noProof="0" dirty="0">
                <a:latin typeface="Fahkwang" pitchFamily="2" charset="-34"/>
                <a:cs typeface="Fahkwang" pitchFamily="2" charset="-34"/>
              </a:rPr>
              <a:t> </a:t>
            </a: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ED297FC1-29F2-61E7-EF07-E2EC403B0E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51" y="-43743"/>
            <a:ext cx="4828750" cy="97237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97F6135E-A1E8-7DFE-1691-2B380280E7DC}"/>
              </a:ext>
            </a:extLst>
          </p:cNvPr>
          <p:cNvSpPr txBox="1">
            <a:spLocks/>
          </p:cNvSpPr>
          <p:nvPr/>
        </p:nvSpPr>
        <p:spPr>
          <a:xfrm>
            <a:off x="88429" y="96781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794E2448-FB5E-F803-E411-C7BA9D4B7DF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6D1536-7656-584B-C936-6CEE2CFFD7CE}"/>
              </a:ext>
            </a:extLst>
          </p:cNvPr>
          <p:cNvSpPr txBox="1"/>
          <p:nvPr/>
        </p:nvSpPr>
        <p:spPr>
          <a:xfrm>
            <a:off x="533400" y="5995572"/>
            <a:ext cx="11221298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Este mes tuvimos una venta extraordinaria de una familia clientes de PUNTA CANA SOLUTIONS, compraron 9 unidades, de preferencia decidieron por modelo Gardens. Son usuarios finales. 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pt-BR" sz="1600" dirty="0">
              <a:highlight>
                <a:srgbClr val="FFFF00"/>
              </a:highlight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024C6-FBDC-EF6D-413D-7CE62DBF6FC3}"/>
              </a:ext>
            </a:extLst>
          </p:cNvPr>
          <p:cNvSpPr txBox="1"/>
          <p:nvPr/>
        </p:nvSpPr>
        <p:spPr>
          <a:xfrm>
            <a:off x="362942" y="1170018"/>
            <a:ext cx="51891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i="1" spc="45" dirty="0">
                <a:latin typeface="Fahkwang" pitchFamily="2" charset="-34"/>
                <a:cs typeface="Fahkwang" pitchFamily="2" charset="-34"/>
              </a:rPr>
              <a:t>Histórico por modelo desde  2024 al 30 abril 2016</a:t>
            </a:r>
          </a:p>
          <a:p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Balcony –  </a:t>
            </a:r>
            <a:r>
              <a:rPr lang="es-ES" sz="1200" b="1" i="1" spc="45" dirty="0">
                <a:latin typeface="Fahkwang" pitchFamily="2" charset="-34"/>
                <a:cs typeface="Fahkwang" pitchFamily="2" charset="-34"/>
              </a:rPr>
              <a:t>6.3 Unidades</a:t>
            </a:r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 / Mes</a:t>
            </a:r>
          </a:p>
          <a:p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Garden –   </a:t>
            </a:r>
            <a:r>
              <a:rPr lang="es-ES" sz="1200" b="1" i="1" spc="45" dirty="0">
                <a:latin typeface="Fahkwang" pitchFamily="2" charset="-34"/>
                <a:cs typeface="Fahkwang" pitchFamily="2" charset="-34"/>
              </a:rPr>
              <a:t>6.0 Unidades </a:t>
            </a:r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/ Mes</a:t>
            </a:r>
          </a:p>
          <a:p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Sunset –   </a:t>
            </a:r>
            <a:r>
              <a:rPr lang="es-ES" sz="1200" b="1" i="1" spc="45" dirty="0">
                <a:latin typeface="Fahkwang" pitchFamily="2" charset="-34"/>
                <a:cs typeface="Fahkwang" pitchFamily="2" charset="-34"/>
              </a:rPr>
              <a:t>4.9 Unidades </a:t>
            </a:r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/ Mes</a:t>
            </a:r>
          </a:p>
          <a:p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Balcony Flex -  </a:t>
            </a:r>
            <a:r>
              <a:rPr lang="es-ES" sz="1200" b="1" i="1" spc="45" dirty="0">
                <a:latin typeface="Fahkwang" pitchFamily="2" charset="-34"/>
                <a:cs typeface="Fahkwang" pitchFamily="2" charset="-34"/>
              </a:rPr>
              <a:t>3.3 Unidades </a:t>
            </a:r>
            <a:r>
              <a:rPr lang="es-ES" sz="1200" i="1" spc="45" dirty="0">
                <a:latin typeface="Fahkwang" pitchFamily="2" charset="-34"/>
                <a:cs typeface="Fahkwang" pitchFamily="2" charset="-34"/>
              </a:rPr>
              <a:t>/ Mes</a:t>
            </a:r>
            <a:endParaRPr lang="es-ES_tradnl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3C835-3144-E5CA-683B-37095FD79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19"/>
          <a:stretch>
            <a:fillRect/>
          </a:stretch>
        </p:blipFill>
        <p:spPr>
          <a:xfrm>
            <a:off x="8915400" y="985728"/>
            <a:ext cx="1691901" cy="1601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4E619-BA68-90D7-1BBC-82489F9D4C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652" y="976807"/>
            <a:ext cx="1701214" cy="1931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6AF42E-6D92-0BD0-010E-8293FF6358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"/>
          <a:stretch>
            <a:fillRect/>
          </a:stretch>
        </p:blipFill>
        <p:spPr>
          <a:xfrm>
            <a:off x="5765199" y="1026735"/>
            <a:ext cx="1230304" cy="137136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536556D-BED9-1678-44DD-2C78215EFE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816" y="922254"/>
            <a:ext cx="1552792" cy="1733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2D20-CE4B-B57A-1E94-BC0FD7F4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141FC-7AF6-5635-E257-2A0C1FE39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2963"/>
            <a:ext cx="9144000" cy="23876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ECC8D0-0E3C-AD94-D9AF-6953C4744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2638"/>
            <a:ext cx="9144000" cy="165576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77020FF-0BFE-90A8-5AAB-84E8A1A0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073" y="1317655"/>
            <a:ext cx="1495634" cy="148610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67C32E8-9E6A-3336-B8A8-79A2259D3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740" y="1317655"/>
            <a:ext cx="1562318" cy="1486107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4E27AED8-A95A-DD62-983F-9FC5171E49A0}"/>
              </a:ext>
            </a:extLst>
          </p:cNvPr>
          <p:cNvSpPr txBox="1">
            <a:spLocks/>
          </p:cNvSpPr>
          <p:nvPr/>
        </p:nvSpPr>
        <p:spPr>
          <a:xfrm>
            <a:off x="68764" y="153438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Ubicacion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Fase II 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7AB0CB1-8798-A630-4647-40350A3CEAB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6641182" cy="972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69C69-449E-DC78-A82F-18CD1BBDDE00}"/>
              </a:ext>
            </a:extLst>
          </p:cNvPr>
          <p:cNvSpPr txBox="1"/>
          <p:nvPr/>
        </p:nvSpPr>
        <p:spPr>
          <a:xfrm>
            <a:off x="68764" y="725100"/>
            <a:ext cx="2465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i="1" dirty="0">
                <a:latin typeface="Fahkwang" pitchFamily="2" charset="-34"/>
                <a:cs typeface="Fahkwang" pitchFamily="2" charset="-34"/>
              </a:rPr>
              <a:t>Actualizado 30ABR2026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088B373-272A-2DAB-A9FC-0BFA97EB7FA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F5DFC8E-E70E-E61C-1E72-33110D500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570" y="2873927"/>
            <a:ext cx="11164858" cy="33818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60575CE-40EC-954D-96D3-CB4731C8F8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6961" y="1374813"/>
            <a:ext cx="1648055" cy="142894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12418FD-B1C6-B4C6-84A4-2E0CE70BF0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0618" y="1312339"/>
            <a:ext cx="183858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5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ED453-68C7-5486-2AED-68CEAE7E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02F68-D07B-DA4F-AABD-F4E94AA60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5801" y="1835615"/>
            <a:ext cx="9144000" cy="2387600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A23A55-5926-920C-2574-33A6FE303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5801" y="4315290"/>
            <a:ext cx="9144000" cy="1655762"/>
          </a:xfrm>
        </p:spPr>
        <p:txBody>
          <a:bodyPr/>
          <a:lstStyle/>
          <a:p>
            <a:r>
              <a:rPr lang="es-ES" dirty="0"/>
              <a:t> </a:t>
            </a:r>
            <a:endParaRPr lang="es-DO" dirty="0"/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EBBAFE2B-EC05-8FC7-6B25-A63529BAEC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2" y="8392"/>
            <a:ext cx="6314768" cy="97237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0BB224D3-2EA8-7C21-D5E3-E1396CD507A8}"/>
              </a:ext>
            </a:extLst>
          </p:cNvPr>
          <p:cNvSpPr txBox="1">
            <a:spLocks/>
          </p:cNvSpPr>
          <p:nvPr/>
        </p:nvSpPr>
        <p:spPr>
          <a:xfrm>
            <a:off x="61390" y="124055"/>
            <a:ext cx="74676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 err="1">
                <a:latin typeface="Fahkwang" pitchFamily="2" charset="-34"/>
                <a:cs typeface="Fahkwang" pitchFamily="2" charset="-34"/>
              </a:rPr>
              <a:t>Reservas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Modelos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Fase II 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442CF-FA7C-2ED7-24CB-B66EDFE7A258}"/>
              </a:ext>
            </a:extLst>
          </p:cNvPr>
          <p:cNvSpPr txBox="1"/>
          <p:nvPr/>
        </p:nvSpPr>
        <p:spPr>
          <a:xfrm>
            <a:off x="46642" y="727415"/>
            <a:ext cx="2465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i="1" dirty="0">
                <a:latin typeface="Fahkwang" pitchFamily="2" charset="-34"/>
                <a:cs typeface="Fahkwang" pitchFamily="2" charset="-34"/>
              </a:rPr>
              <a:t>Actualizado 30ABR2026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FF5C1B15-09F2-B4FA-5220-E1548927D1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67AE9C6-7287-3D77-A86D-76DAA546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67" y="3002719"/>
            <a:ext cx="11060068" cy="34009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7056730-E5FC-8E57-BB2A-6C004077D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1228897"/>
            <a:ext cx="2295845" cy="170521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2C4B76D-965A-A72F-BA84-3FF4A2157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344" y="1222098"/>
            <a:ext cx="2276793" cy="167663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BA52BD8-5A9F-5B28-C13E-CF470DD2F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3237" y="1278453"/>
            <a:ext cx="2295845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7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2400" y="834256"/>
            <a:ext cx="6248400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Fahkwang" pitchFamily="2" charset="-34"/>
                <a:cs typeface="Fahkwang" pitchFamily="2" charset="-34"/>
              </a:rPr>
              <a:t>Meta</a:t>
            </a:r>
            <a:r>
              <a:rPr lang="en-US" sz="2000" dirty="0">
                <a:latin typeface="Fahkwang" pitchFamily="2" charset="-34"/>
                <a:cs typeface="Fahkwang" pitchFamily="2" charset="-34"/>
              </a:rPr>
              <a:t>s</a:t>
            </a:r>
            <a:r>
              <a:rPr sz="2000" spc="-13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spc="50" dirty="0">
                <a:latin typeface="Fahkwang" pitchFamily="2" charset="-34"/>
                <a:cs typeface="Fahkwang" pitchFamily="2" charset="-34"/>
              </a:rPr>
              <a:t>de</a:t>
            </a:r>
            <a:r>
              <a:rPr sz="2000" spc="-7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dirty="0" err="1">
                <a:latin typeface="Fahkwang" pitchFamily="2" charset="-34"/>
                <a:cs typeface="Fahkwang" pitchFamily="2" charset="-34"/>
              </a:rPr>
              <a:t>Recaudación</a:t>
            </a:r>
            <a:r>
              <a:rPr sz="2000" spc="-14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n-US" sz="2000" spc="-140" dirty="0">
                <a:latin typeface="Fahkwang" pitchFamily="2" charset="-34"/>
                <a:cs typeface="Fahkwang" pitchFamily="2" charset="-34"/>
              </a:rPr>
              <a:t>  </a:t>
            </a:r>
            <a:r>
              <a:rPr sz="2000" b="1" spc="114" dirty="0">
                <a:latin typeface="Fahkwang" pitchFamily="2" charset="-34"/>
                <a:cs typeface="Fahkwang" pitchFamily="2" charset="-34"/>
              </a:rPr>
              <a:t>FASE</a:t>
            </a:r>
            <a:r>
              <a:rPr sz="2000" b="1" spc="-120" dirty="0">
                <a:latin typeface="Fahkwang" pitchFamily="2" charset="-34"/>
                <a:cs typeface="Fahkwang" pitchFamily="2" charset="-34"/>
              </a:rPr>
              <a:t> </a:t>
            </a:r>
            <a:r>
              <a:rPr sz="2000" b="1" spc="-204" dirty="0">
                <a:latin typeface="Fahkwang" pitchFamily="2" charset="-34"/>
                <a:cs typeface="Fahkwang" pitchFamily="2" charset="-34"/>
              </a:rPr>
              <a:t>I</a:t>
            </a:r>
            <a:r>
              <a:rPr lang="es-ES" sz="2000" b="1" spc="-70" dirty="0">
                <a:latin typeface="Fahkwang" pitchFamily="2" charset="-34"/>
                <a:cs typeface="Fahkwang" pitchFamily="2" charset="-34"/>
              </a:rPr>
              <a:t>     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US</a:t>
            </a:r>
            <a:r>
              <a:rPr lang="es-ES" sz="2000" b="1" spc="85" dirty="0">
                <a:latin typeface="Fahkwang" pitchFamily="2" charset="-34"/>
                <a:cs typeface="Fahkwang" pitchFamily="2" charset="-34"/>
              </a:rPr>
              <a:t>$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22</a:t>
            </a:r>
            <a:r>
              <a:rPr lang="es-ES" sz="2000" b="1" spc="85" dirty="0">
                <a:latin typeface="Fahkwang" pitchFamily="2" charset="-34"/>
                <a:cs typeface="Fahkwang" pitchFamily="2" charset="-34"/>
              </a:rPr>
              <a:t>.03</a:t>
            </a:r>
            <a:r>
              <a:rPr sz="2000" b="1" spc="85" dirty="0">
                <a:latin typeface="Fahkwang" pitchFamily="2" charset="-34"/>
                <a:cs typeface="Fahkwang" pitchFamily="2" charset="-34"/>
              </a:rPr>
              <a:t>M</a:t>
            </a:r>
            <a:endParaRPr lang="en-US" sz="2000" b="1" spc="85" dirty="0">
              <a:latin typeface="Fahkwang" pitchFamily="2" charset="-34"/>
              <a:cs typeface="Fahkwang" pitchFamily="2" charset="-3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85" dirty="0">
                <a:latin typeface="Fahkwang" pitchFamily="2" charset="-34"/>
                <a:cs typeface="Fahkwang" pitchFamily="2" charset="-34"/>
              </a:rPr>
              <a:t>                                     FASE II  US$25.17M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000" spc="85" dirty="0">
              <a:latin typeface="Fahkwang" pitchFamily="2" charset="-34"/>
              <a:cs typeface="Fahkwang" pitchFamily="2" charset="-3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85" dirty="0">
                <a:latin typeface="Fahkwang" pitchFamily="2" charset="-34"/>
                <a:cs typeface="Fahkwang" pitchFamily="2" charset="-34"/>
              </a:rPr>
              <a:t>197 Activas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133 Activas - 85% Fase 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  64 Activas - 46% Fase II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5" dirty="0">
                <a:latin typeface="Fahkwang" pitchFamily="2" charset="-34"/>
                <a:cs typeface="Fahkwang" pitchFamily="2" charset="-34"/>
              </a:rPr>
              <a:t> * </a:t>
            </a:r>
            <a:r>
              <a:rPr lang="en-US" sz="1400" i="1" spc="85" dirty="0">
                <a:latin typeface="Fahkwang" pitchFamily="2" charset="-34"/>
                <a:cs typeface="Fahkwang" pitchFamily="2" charset="-34"/>
              </a:rPr>
              <a:t>39 </a:t>
            </a:r>
            <a:r>
              <a:rPr lang="en-US" sz="1400" i="1" spc="85" dirty="0" err="1">
                <a:latin typeface="Fahkwang" pitchFamily="2" charset="-34"/>
                <a:cs typeface="Fahkwang" pitchFamily="2" charset="-34"/>
              </a:rPr>
              <a:t>Desistidas</a:t>
            </a:r>
            <a:r>
              <a:rPr lang="en-US" sz="1400" b="1" i="1" spc="85" dirty="0">
                <a:latin typeface="Fahkwang" pitchFamily="2" charset="-34"/>
                <a:cs typeface="Fahkwang" pitchFamily="2" charset="-34"/>
              </a:rPr>
              <a:t> – </a:t>
            </a:r>
            <a:r>
              <a:rPr lang="en-US" sz="1400" i="1" spc="85" dirty="0">
                <a:latin typeface="Fahkwang" pitchFamily="2" charset="-34"/>
                <a:cs typeface="Fahkwang" pitchFamily="2" charset="-34"/>
              </a:rPr>
              <a:t>16% de las Reservas.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16B643E-4C26-DBE2-32CE-8BC640838BD5}"/>
              </a:ext>
            </a:extLst>
          </p:cNvPr>
          <p:cNvSpPr txBox="1"/>
          <p:nvPr/>
        </p:nvSpPr>
        <p:spPr>
          <a:xfrm>
            <a:off x="495300" y="6023744"/>
            <a:ext cx="112014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i="1" dirty="0">
                <a:latin typeface="Fahkwang" pitchFamily="2" charset="-34"/>
                <a:cs typeface="Fahkwang" pitchFamily="2" charset="-34"/>
              </a:rPr>
              <a:t>Para el mes de marzo teníamos 171 Unidades Activas.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i="1" dirty="0">
                <a:latin typeface="Fahkwang" pitchFamily="2" charset="-34"/>
                <a:cs typeface="Fahkwang" pitchFamily="2" charset="-34"/>
              </a:rPr>
              <a:t>De la Fase II se han reservado 64 Unidades (21 Garden, 21 Sunset y 22 Balcony Flex). </a:t>
            </a:r>
            <a:endParaRPr i="1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A072BD7-91DB-9E8C-3D5D-A6451F18B5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81A86F3-1D6F-CD6C-75FF-D0A943B8D8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err="1">
                <a:latin typeface="Fahkwang" pitchFamily="2" charset="-34"/>
                <a:cs typeface="Fahkwang" pitchFamily="2" charset="-34"/>
              </a:rPr>
              <a:t>Situación</a:t>
            </a:r>
            <a:r>
              <a:rPr lang="en-US">
                <a:latin typeface="Fahkwang" pitchFamily="2" charset="-34"/>
                <a:cs typeface="Fahkwang" pitchFamily="2" charset="-34"/>
              </a:rPr>
              <a:t> </a:t>
            </a:r>
            <a:r>
              <a:rPr lang="en-US" err="1">
                <a:latin typeface="Fahkwang" pitchFamily="2" charset="-34"/>
                <a:cs typeface="Fahkwang" pitchFamily="2" charset="-34"/>
              </a:rPr>
              <a:t>Inventario</a:t>
            </a:r>
            <a:endParaRPr lang="en-US" spc="-1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0FFAC479-6387-1AB6-BAB0-98634AA12D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B0DEA21-3268-B6A8-863B-B2FB231A5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19" y="2959885"/>
            <a:ext cx="9894482" cy="2908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41F82A4E-74CF-0A26-F2BC-495EAB49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6"/>
          <a:stretch>
            <a:fillRect/>
          </a:stretch>
        </p:blipFill>
        <p:spPr>
          <a:xfrm>
            <a:off x="130133" y="865718"/>
            <a:ext cx="3332542" cy="274874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BD34D3-CA83-85A6-2676-D427B5B3D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81" y="3560867"/>
            <a:ext cx="10174238" cy="31684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29199" y="1020795"/>
            <a:ext cx="487680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_tradnl" sz="2000" b="1" spc="55" noProof="0" dirty="0">
                <a:latin typeface="Fahkwang" pitchFamily="2" charset="-34"/>
                <a:cs typeface="Fahkwang" pitchFamily="2" charset="-34"/>
              </a:rPr>
              <a:t>160</a:t>
            </a:r>
            <a:r>
              <a:rPr lang="es-ES_tradnl" sz="2000" spc="-35" noProof="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2000" noProof="0" dirty="0">
                <a:latin typeface="Fahkwang" pitchFamily="2" charset="-34"/>
                <a:cs typeface="Fahkwang" pitchFamily="2" charset="-34"/>
              </a:rPr>
              <a:t>Unidades</a:t>
            </a:r>
            <a:r>
              <a:rPr lang="es-ES_tradnl" sz="2000" spc="-75" noProof="0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_tradnl" sz="2000" spc="-10" noProof="0" dirty="0">
                <a:latin typeface="Fahkwang" pitchFamily="2" charset="-34"/>
                <a:cs typeface="Fahkwang" pitchFamily="2" charset="-34"/>
              </a:rPr>
              <a:t>Depuradas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_tradnl" sz="2000" b="1" spc="-10" noProof="0" dirty="0">
                <a:latin typeface="Fahkwang" pitchFamily="2" charset="-34"/>
                <a:cs typeface="Fahkwang" pitchFamily="2" charset="-34"/>
              </a:rPr>
              <a:t>   </a:t>
            </a:r>
            <a:r>
              <a:rPr lang="es-ES_tradnl" sz="2000" b="1" spc="-10" dirty="0">
                <a:latin typeface="Fahkwang" pitchFamily="2" charset="-34"/>
                <a:cs typeface="Fahkwang" pitchFamily="2" charset="-34"/>
              </a:rPr>
              <a:t>3</a:t>
            </a:r>
            <a:r>
              <a:rPr lang="es-ES_tradnl" sz="2000" b="1" spc="-10" noProof="0" dirty="0">
                <a:latin typeface="Fahkwang" pitchFamily="2" charset="-34"/>
                <a:cs typeface="Fahkwang" pitchFamily="2" charset="-34"/>
              </a:rPr>
              <a:t>7</a:t>
            </a:r>
            <a:r>
              <a:rPr lang="es-ES_tradnl" sz="2000" spc="-10" noProof="0" dirty="0">
                <a:latin typeface="Fahkwang" pitchFamily="2" charset="-34"/>
                <a:cs typeface="Fahkwang" pitchFamily="2" charset="-34"/>
              </a:rPr>
              <a:t>  Unidades por Depurar</a:t>
            </a:r>
            <a:endParaRPr lang="es-ES_tradnl" sz="2000" noProof="0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70E92D1-1CC1-01C4-17D7-35B46C517376}"/>
              </a:ext>
            </a:extLst>
          </p:cNvPr>
          <p:cNvSpPr txBox="1"/>
          <p:nvPr/>
        </p:nvSpPr>
        <p:spPr>
          <a:xfrm>
            <a:off x="5029200" y="1888770"/>
            <a:ext cx="6705599" cy="1269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sz="1600" b="1" i="1" spc="55" noProof="1">
                <a:latin typeface="Fahkwang" pitchFamily="2" charset="-34"/>
                <a:cs typeface="Fahkwang" pitchFamily="2" charset="-34"/>
              </a:rPr>
              <a:t>140 unidades vinculadas al 30 de abril</a:t>
            </a:r>
            <a:r>
              <a:rPr lang="es-ES_tradnl" sz="1600" i="1" spc="55" noProof="1">
                <a:latin typeface="Fahkwang" pitchFamily="2" charset="-34"/>
                <a:cs typeface="Fahkwang" pitchFamily="2" charset="-34"/>
              </a:rPr>
              <a:t>, 2 en proceso de vinculacion y 18 en proceso de firma del contrato. </a:t>
            </a: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endParaRPr lang="es-ES_tradnl" sz="1600" i="1" spc="55" noProof="1">
              <a:latin typeface="Fahkwang" pitchFamily="2" charset="-34"/>
              <a:cs typeface="Fahkwang" pitchFamily="2" charset="-34"/>
            </a:endParaRPr>
          </a:p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s-ES_tradnl" sz="1600" i="1" spc="55" noProof="1">
                <a:latin typeface="Fahkwang" pitchFamily="2" charset="-34"/>
                <a:cs typeface="Fahkwang" pitchFamily="2" charset="-34"/>
              </a:rPr>
              <a:t>Al cierre de mes hay 8 cliente en proceso de depuración y 29 clientes a la espera de documentos. </a:t>
            </a:r>
            <a:endParaRPr lang="es-ES_tradnl" sz="1600" i="1" noProof="1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4" name="object 6">
            <a:extLst>
              <a:ext uri="{FF2B5EF4-FFF2-40B4-BE49-F238E27FC236}">
                <a16:creationId xmlns:a16="http://schemas.microsoft.com/office/drawing/2014/main" id="{7B2DA690-B4F8-3031-5EF6-C6AA30B6F66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15" name="object 2">
            <a:extLst>
              <a:ext uri="{FF2B5EF4-FFF2-40B4-BE49-F238E27FC236}">
                <a16:creationId xmlns:a16="http://schemas.microsoft.com/office/drawing/2014/main" id="{0129D04D-6FF8-F61F-3A67-53697D9FB6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err="1">
                <a:latin typeface="Fahkwang" pitchFamily="2" charset="-34"/>
                <a:cs typeface="Fahkwang" pitchFamily="2" charset="-34"/>
              </a:rPr>
              <a:t>Depuradas</a:t>
            </a:r>
            <a:endParaRPr lang="en-US" spc="-1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7" name="object 5">
            <a:extLst>
              <a:ext uri="{FF2B5EF4-FFF2-40B4-BE49-F238E27FC236}">
                <a16:creationId xmlns:a16="http://schemas.microsoft.com/office/drawing/2014/main" id="{208AB7B6-89B9-B6A7-738E-6EBC4F77451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2" name="Imagen 10">
            <a:extLst>
              <a:ext uri="{FF2B5EF4-FFF2-40B4-BE49-F238E27FC236}">
                <a16:creationId xmlns:a16="http://schemas.microsoft.com/office/drawing/2014/main" id="{BF2C7BE4-9C8D-0CB2-D0D6-C6DFCB6A59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9985"/>
          <a:stretch>
            <a:fillRect/>
          </a:stretch>
        </p:blipFill>
        <p:spPr>
          <a:xfrm>
            <a:off x="2743200" y="690822"/>
            <a:ext cx="1581371" cy="589177"/>
          </a:xfrm>
          <a:prstGeom prst="rect">
            <a:avLst/>
          </a:prstGeom>
        </p:spPr>
      </p:pic>
      <p:pic>
        <p:nvPicPr>
          <p:cNvPr id="4" name="Imagen 10">
            <a:extLst>
              <a:ext uri="{FF2B5EF4-FFF2-40B4-BE49-F238E27FC236}">
                <a16:creationId xmlns:a16="http://schemas.microsoft.com/office/drawing/2014/main" id="{5B43F179-14A4-17CD-63AF-4A2328A5B2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760" r="27721" b="67297"/>
          <a:stretch>
            <a:fillRect/>
          </a:stretch>
        </p:blipFill>
        <p:spPr>
          <a:xfrm>
            <a:off x="130133" y="3142706"/>
            <a:ext cx="1143000" cy="381000"/>
          </a:xfrm>
          <a:prstGeom prst="rect">
            <a:avLst/>
          </a:prstGeom>
        </p:spPr>
      </p:pic>
      <p:pic>
        <p:nvPicPr>
          <p:cNvPr id="6" name="Imagen 10">
            <a:extLst>
              <a:ext uri="{FF2B5EF4-FFF2-40B4-BE49-F238E27FC236}">
                <a16:creationId xmlns:a16="http://schemas.microsoft.com/office/drawing/2014/main" id="{763F5D59-0E27-1162-BE58-B21B318ED7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652" r="33009" b="53405"/>
          <a:stretch>
            <a:fillRect/>
          </a:stretch>
        </p:blipFill>
        <p:spPr>
          <a:xfrm>
            <a:off x="2597507" y="3420654"/>
            <a:ext cx="1059378" cy="381000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7946C3FC-B22D-646C-4ADA-7C37BAC13D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9184" r="28190" b="36924"/>
          <a:stretch>
            <a:fillRect/>
          </a:stretch>
        </p:blipFill>
        <p:spPr>
          <a:xfrm>
            <a:off x="3188993" y="2924269"/>
            <a:ext cx="1135578" cy="408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3FE2C2F-21F4-6556-276C-D0617891F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E8F99B1-552C-5B08-8380-26FD8B03B083}"/>
              </a:ext>
            </a:extLst>
          </p:cNvPr>
          <p:cNvSpPr txBox="1"/>
          <p:nvPr/>
        </p:nvSpPr>
        <p:spPr>
          <a:xfrm>
            <a:off x="8342151" y="2438400"/>
            <a:ext cx="334172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2000" b="1" spc="55" dirty="0">
                <a:latin typeface="Fahkwang" pitchFamily="2" charset="-34"/>
                <a:cs typeface="Fahkwang" pitchFamily="2" charset="-34"/>
              </a:rPr>
              <a:t>142</a:t>
            </a:r>
            <a:r>
              <a:rPr sz="2000" spc="-10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2000" spc="-10" dirty="0">
                <a:latin typeface="Fahkwang" pitchFamily="2" charset="-34"/>
                <a:cs typeface="Fahkwang" pitchFamily="2" charset="-34"/>
              </a:rPr>
              <a:t>U</a:t>
            </a:r>
            <a:r>
              <a:rPr sz="2000" spc="-10" dirty="0" err="1">
                <a:latin typeface="Fahkwang" pitchFamily="2" charset="-34"/>
                <a:cs typeface="Fahkwang" pitchFamily="2" charset="-34"/>
              </a:rPr>
              <a:t>nidades</a:t>
            </a:r>
            <a:r>
              <a:rPr sz="2000" spc="-145" dirty="0">
                <a:latin typeface="Fahkwang" pitchFamily="2" charset="-34"/>
                <a:cs typeface="Fahkwang" pitchFamily="2" charset="-34"/>
              </a:rPr>
              <a:t> </a:t>
            </a:r>
            <a:r>
              <a:rPr lang="es-ES" sz="2000" spc="-145" dirty="0">
                <a:latin typeface="Fahkwang" pitchFamily="2" charset="-34"/>
                <a:cs typeface="Fahkwang" pitchFamily="2" charset="-34"/>
              </a:rPr>
              <a:t>Vinculadas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s-ES" sz="2000" b="1" spc="-145" dirty="0">
                <a:latin typeface="Fahkwang" pitchFamily="2" charset="-34"/>
                <a:cs typeface="Fahkwang" pitchFamily="2" charset="-34"/>
              </a:rPr>
              <a:t>       2</a:t>
            </a:r>
            <a:r>
              <a:rPr lang="es-ES" sz="2000" spc="-145" dirty="0">
                <a:latin typeface="Fahkwang" pitchFamily="2" charset="-34"/>
                <a:cs typeface="Fahkwang" pitchFamily="2" charset="-34"/>
              </a:rPr>
              <a:t>  Fueron desistidas</a:t>
            </a:r>
            <a:endParaRPr lang="en-US" sz="2000" spc="45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51356A2E-DA9B-97F0-4F60-6B8857E630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2244942C-8AB3-6604-0D68-45C3B609307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8674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dirty="0">
                <a:latin typeface="Fahkwang" pitchFamily="2" charset="-34"/>
                <a:cs typeface="Fahkwang" pitchFamily="2" charset="-34"/>
              </a:rPr>
              <a:t>Ventas </a:t>
            </a:r>
            <a:r>
              <a:rPr lang="en-US" dirty="0" err="1">
                <a:latin typeface="Fahkwang" pitchFamily="2" charset="-34"/>
                <a:cs typeface="Fahkwang" pitchFamily="2" charset="-34"/>
              </a:rPr>
              <a:t>Vinculadas</a:t>
            </a:r>
            <a:r>
              <a:rPr lang="en-US" dirty="0">
                <a:latin typeface="Fahkwang" pitchFamily="2" charset="-34"/>
                <a:cs typeface="Fahkwang" pitchFamily="2" charset="-34"/>
              </a:rPr>
              <a:t> por Mes</a:t>
            </a:r>
            <a:endParaRPr lang="en-US" spc="-10" dirty="0"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F94D586C-7AB9-F71B-658B-9FFF5E0F24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1C7D537-B53A-CA10-262C-D54ADEE78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1400"/>
            <a:ext cx="12192000" cy="237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29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ECC1-AA3E-8857-6247-9166F3AC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D8213255-FC56-B118-9B4B-43AF4688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393" y="2989254"/>
            <a:ext cx="7263904" cy="35106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1B6697-2F5E-09A7-7F9E-C9D870769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1" y="706604"/>
            <a:ext cx="4229925" cy="2254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4CB93-5BA4-FC01-65E2-00842ABF3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68888"/>
            <a:ext cx="7194587" cy="1100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A87F42-80F1-D060-B310-1D64B0B2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4444"/>
            <a:ext cx="8455661" cy="492443"/>
          </a:xfrm>
        </p:spPr>
        <p:txBody>
          <a:bodyPr/>
          <a:lstStyle/>
          <a:p>
            <a:r>
              <a:rPr lang="es-ES" dirty="0">
                <a:latin typeface="Fahkwang" pitchFamily="2" charset="-34"/>
                <a:cs typeface="Fahkwang" pitchFamily="2" charset="-34"/>
              </a:rPr>
              <a:t>Tiempo de Gestión por Etapas </a:t>
            </a:r>
            <a:endParaRPr lang="en-US" dirty="0">
              <a:latin typeface="Fahkwang" pitchFamily="2" charset="-34"/>
              <a:cs typeface="Fahkwang" pitchFamily="2" charset="-3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E49F6-2F3C-D36E-B3EF-62271A6BE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4BAB5-8E2F-539F-6E4C-AFD555BE961A}"/>
              </a:ext>
            </a:extLst>
          </p:cNvPr>
          <p:cNvSpPr txBox="1"/>
          <p:nvPr/>
        </p:nvSpPr>
        <p:spPr>
          <a:xfrm>
            <a:off x="4419600" y="2652977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Documentos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E51ADF-C286-0823-EA82-71FDF042733C}"/>
              </a:ext>
            </a:extLst>
          </p:cNvPr>
          <p:cNvSpPr txBox="1"/>
          <p:nvPr/>
        </p:nvSpPr>
        <p:spPr>
          <a:xfrm>
            <a:off x="7543800" y="2681477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Contrato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A4DF5D-56EF-BD59-DB15-A7401DBE6F7B}"/>
              </a:ext>
            </a:extLst>
          </p:cNvPr>
          <p:cNvSpPr txBox="1"/>
          <p:nvPr/>
        </p:nvSpPr>
        <p:spPr>
          <a:xfrm>
            <a:off x="6032452" y="2664023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Depuración</a:t>
            </a:r>
            <a:r>
              <a:rPr lang="es-ES_tradnl" sz="1400" dirty="0">
                <a:latin typeface="Fahkwang ExtraLight" pitchFamily="2" charset="-34"/>
                <a:cs typeface="Fahkwang ExtraLight" pitchFamily="2" charset="-34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7CE96-D144-D940-C4B2-19B0D9DE1079}"/>
              </a:ext>
            </a:extLst>
          </p:cNvPr>
          <p:cNvSpPr txBox="1"/>
          <p:nvPr/>
        </p:nvSpPr>
        <p:spPr>
          <a:xfrm>
            <a:off x="10363200" y="2662773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Expediente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5769D-8937-F149-3176-671AB94E9948}"/>
              </a:ext>
            </a:extLst>
          </p:cNvPr>
          <p:cNvSpPr txBox="1"/>
          <p:nvPr/>
        </p:nvSpPr>
        <p:spPr>
          <a:xfrm>
            <a:off x="8839200" y="2662911"/>
            <a:ext cx="1205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Fahkwang ExtraLight" pitchFamily="2" charset="-34"/>
                <a:cs typeface="Fahkwang ExtraLight" pitchFamily="2" charset="-34"/>
              </a:rPr>
              <a:t>Vinculación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B51F-A48F-FAAF-3D5A-F95D0AA25673}"/>
              </a:ext>
            </a:extLst>
          </p:cNvPr>
          <p:cNvSpPr txBox="1"/>
          <p:nvPr/>
        </p:nvSpPr>
        <p:spPr>
          <a:xfrm>
            <a:off x="7467600" y="1662591"/>
            <a:ext cx="3867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latin typeface="Fahkwang" panose="00000500000000000000" pitchFamily="2" charset="-34"/>
                <a:cs typeface="Fahkwang" panose="00000500000000000000" pitchFamily="2" charset="-34"/>
              </a:rPr>
              <a:t>La etapa de reserva bajo 2 días y el tiempo de vinculación bajó 1 día  </a:t>
            </a:r>
            <a:endParaRPr lang="es-ES" sz="1600" noProof="0" dirty="0">
              <a:latin typeface="Fahkwang" panose="00000500000000000000" pitchFamily="2" charset="-34"/>
              <a:cs typeface="Fahkwang" panose="00000500000000000000" pitchFamily="2" charset="-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BCABC-9CD4-D310-34BE-365513137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579" y="3148739"/>
            <a:ext cx="30483" cy="3090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715A59-81DA-F184-24BD-3DF2597F7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179" y="3133643"/>
            <a:ext cx="30483" cy="3090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344001-8073-AD83-A40F-E225909026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626" y="3148739"/>
            <a:ext cx="30483" cy="3090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F9FB30-13C5-F8FA-125E-BA50EE4B2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118" y="3133643"/>
            <a:ext cx="30483" cy="309094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8FDDC3-077C-41C6-A927-A06D29E771F3}"/>
              </a:ext>
            </a:extLst>
          </p:cNvPr>
          <p:cNvCxnSpPr/>
          <p:nvPr/>
        </p:nvCxnSpPr>
        <p:spPr>
          <a:xfrm>
            <a:off x="8013932" y="3870149"/>
            <a:ext cx="0" cy="808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1">
            <a:extLst>
              <a:ext uri="{FF2B5EF4-FFF2-40B4-BE49-F238E27FC236}">
                <a16:creationId xmlns:a16="http://schemas.microsoft.com/office/drawing/2014/main" id="{FC5EBD99-93AE-6AA8-8918-8F01F4B56EE8}"/>
              </a:ext>
            </a:extLst>
          </p:cNvPr>
          <p:cNvCxnSpPr/>
          <p:nvPr/>
        </p:nvCxnSpPr>
        <p:spPr>
          <a:xfrm>
            <a:off x="9484228" y="3870150"/>
            <a:ext cx="0" cy="808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7E50A5-D2D2-DDE7-973A-314B64C5BA38}"/>
              </a:ext>
            </a:extLst>
          </p:cNvPr>
          <p:cNvSpPr txBox="1"/>
          <p:nvPr/>
        </p:nvSpPr>
        <p:spPr>
          <a:xfrm>
            <a:off x="213275" y="988454"/>
            <a:ext cx="274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Fahkwang" panose="00000500000000000000" pitchFamily="2" charset="-34"/>
                <a:cs typeface="Fahkwang" panose="00000500000000000000" pitchFamily="2" charset="-34"/>
              </a:rPr>
              <a:t>Mes anterior </a:t>
            </a:r>
            <a:endParaRPr lang="es-ES" sz="1400" noProof="0" dirty="0">
              <a:latin typeface="Fahkwang" panose="00000500000000000000" pitchFamily="2" charset="-34"/>
              <a:cs typeface="Fahkwang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6690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66B7-00BE-638B-5231-2F4C323D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7583FB46-5080-C0B4-EF3E-7579BA86E8D8}"/>
              </a:ext>
            </a:extLst>
          </p:cNvPr>
          <p:cNvSpPr/>
          <p:nvPr/>
        </p:nvSpPr>
        <p:spPr>
          <a:xfrm>
            <a:off x="181886" y="5561951"/>
            <a:ext cx="662074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DO" sz="1800" b="0" i="1" u="none" strike="noStrike" kern="0" cap="none" spc="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itchFamily="2" charset="-34"/>
                <a:cs typeface="Fahkwang" pitchFamily="2" charset="-34"/>
              </a:rPr>
              <a:t>Debido a los pagos adelantados de los clientes al día, se ha logrado el recaudo el 100% de lo proyectado según las ventas formalizadas.</a:t>
            </a:r>
            <a:endParaRPr kumimoji="0" lang="en-US" sz="1800" b="0" i="1" u="none" strike="noStrike" kern="0" cap="none" spc="45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ahkwang" pitchFamily="2" charset="-34"/>
              <a:cs typeface="Fahkwang" pitchFamily="2" charset="-34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33574209-5BA4-0BE2-0B05-D08712C063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23B6EEA-8CA8-8086-C0E4-8CE0E4BF80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Estatus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 de </a:t>
            </a: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Cobranza</a:t>
            </a:r>
            <a:endParaRPr kumimoji="0" lang="en-US" sz="3200" b="0" i="0" u="none" strike="noStrike" kern="0" cap="none" spc="-10" normalizeH="0" baseline="0" noProof="0">
              <a:ln>
                <a:noFill/>
              </a:ln>
              <a:solidFill>
                <a:srgbClr val="FF6063"/>
              </a:solidFill>
              <a:effectLst/>
              <a:uLnTx/>
              <a:uFillTx/>
              <a:latin typeface="Fahkwang" pitchFamily="2" charset="-34"/>
              <a:ea typeface="+mj-ea"/>
              <a:cs typeface="Fahkwang" pitchFamily="2" charset="-34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7F2E8F14-F8EE-687C-980D-8A8C126F58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B4DD22-014D-DF08-447D-12CCDB2C0CD7}"/>
              </a:ext>
            </a:extLst>
          </p:cNvPr>
          <p:cNvSpPr txBox="1"/>
          <p:nvPr/>
        </p:nvSpPr>
        <p:spPr>
          <a:xfrm>
            <a:off x="181886" y="762000"/>
            <a:ext cx="6620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De los </a:t>
            </a:r>
            <a:r>
              <a:rPr lang="es-ES" i="1" dirty="0">
                <a:latin typeface="Fahkwang" panose="00000500000000000000" pitchFamily="2" charset="-34"/>
                <a:cs typeface="Fahkwang" panose="00000500000000000000" pitchFamily="2" charset="-34"/>
              </a:rPr>
              <a:t>144</a:t>
            </a: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clientes con contratos al </a:t>
            </a:r>
            <a:r>
              <a:rPr lang="es-ES" i="1" dirty="0">
                <a:latin typeface="Fahkwang" panose="00000500000000000000" pitchFamily="2" charset="-34"/>
                <a:cs typeface="Fahkwang" panose="00000500000000000000" pitchFamily="2" charset="-34"/>
              </a:rPr>
              <a:t>01/05</a:t>
            </a:r>
            <a:r>
              <a:rPr kumimoji="0" lang="es-E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/2026, tenemos 85 clientes al día, 37 clientes con cuotas pendientes y 22 clientes con cuotas vencidas </a:t>
            </a:r>
          </a:p>
        </p:txBody>
      </p:sp>
      <p:pic>
        <p:nvPicPr>
          <p:cNvPr id="3" name="Imagen 2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DFBF2476-3FA5-246F-D98F-A336AF2EFC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74"/>
          <a:stretch>
            <a:fillRect/>
          </a:stretch>
        </p:blipFill>
        <p:spPr>
          <a:xfrm>
            <a:off x="990600" y="4885665"/>
            <a:ext cx="4419600" cy="39171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73BA66E-9E0F-5FCB-4704-004BCCE5DD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807" t="24185" r="37404" b="8876"/>
          <a:stretch>
            <a:fillRect/>
          </a:stretch>
        </p:blipFill>
        <p:spPr>
          <a:xfrm>
            <a:off x="2094806" y="1955129"/>
            <a:ext cx="2756143" cy="268003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2589FC1-061B-2B8E-FF50-66BFF267DF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515" y="1685330"/>
            <a:ext cx="5207485" cy="101014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AEBF19B-5CB1-2835-49F1-FCDE07D31E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2055" y="839269"/>
            <a:ext cx="5207485" cy="83449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790DBCB-8EDB-D575-28CD-ECF25C706C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3400" y="2695478"/>
            <a:ext cx="3268980" cy="410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28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8975C7-3BC7-6025-15F5-2D2D621D1A38}"/>
              </a:ext>
            </a:extLst>
          </p:cNvPr>
          <p:cNvSpPr/>
          <p:nvPr/>
        </p:nvSpPr>
        <p:spPr>
          <a:xfrm>
            <a:off x="1524000" y="1143000"/>
            <a:ext cx="4126123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DO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ahkwang" pitchFamily="2" charset="-34"/>
                <a:cs typeface="Fahkwang" pitchFamily="2" charset="-34"/>
              </a:rPr>
              <a:t>Monto Total Vencido    US$ </a:t>
            </a:r>
            <a:r>
              <a:rPr lang="es-DO" sz="2400" b="1" dirty="0">
                <a:latin typeface="Fahkwang" pitchFamily="2" charset="-34"/>
                <a:cs typeface="Fahkwang" pitchFamily="2" charset="-34"/>
              </a:rPr>
              <a:t>69,147.67</a:t>
            </a:r>
            <a:endParaRPr kumimoji="0" lang="en-US" sz="2400" b="1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CED3D41-2D36-E91C-114E-160D8DAD36F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" y="-57970"/>
            <a:ext cx="6095999" cy="972370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CC387B98-B606-09FE-B365-A11B45FFC36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850949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3200" b="0" i="0">
                <a:solidFill>
                  <a:srgbClr val="FF6063"/>
                </a:solidFill>
                <a:latin typeface="Verdana"/>
                <a:ea typeface="+mj-ea"/>
                <a:cs typeface="Verdana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Estatus</a:t>
            </a: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 de </a:t>
            </a:r>
            <a:r>
              <a:rPr kumimoji="0" lang="en-US" sz="3200" b="0" i="0" u="none" strike="noStrike" kern="0" cap="none" spc="0" normalizeH="0" baseline="0" noProof="0" err="1">
                <a:ln>
                  <a:noFill/>
                </a:ln>
                <a:solidFill>
                  <a:srgbClr val="FF6063"/>
                </a:solidFill>
                <a:effectLst/>
                <a:uLnTx/>
                <a:uFillTx/>
                <a:latin typeface="Fahkwang" pitchFamily="2" charset="-34"/>
                <a:ea typeface="+mj-ea"/>
                <a:cs typeface="Fahkwang" pitchFamily="2" charset="-34"/>
              </a:rPr>
              <a:t>Cobranza</a:t>
            </a:r>
            <a:endParaRPr kumimoji="0" lang="en-US" sz="3200" b="0" i="0" u="none" strike="noStrike" kern="0" cap="none" spc="-10" normalizeH="0" baseline="0" noProof="0">
              <a:ln>
                <a:noFill/>
              </a:ln>
              <a:solidFill>
                <a:srgbClr val="FF6063"/>
              </a:solidFill>
              <a:effectLst/>
              <a:uLnTx/>
              <a:uFillTx/>
              <a:latin typeface="Fahkwang" pitchFamily="2" charset="-34"/>
              <a:ea typeface="+mj-ea"/>
              <a:cs typeface="Fahkwang" pitchFamily="2" charset="-34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C92470B5-9427-C01A-181C-780A51E5246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13011" y="48433"/>
            <a:ext cx="2110225" cy="5400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77F55-A89C-3B52-06D3-C3EB4CF280D3}"/>
              </a:ext>
            </a:extLst>
          </p:cNvPr>
          <p:cNvSpPr txBox="1"/>
          <p:nvPr/>
        </p:nvSpPr>
        <p:spPr>
          <a:xfrm>
            <a:off x="7543800" y="1676400"/>
            <a:ext cx="403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Al 01/05/2026 se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tienen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22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con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vencidas</a:t>
            </a: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US$ 6,785</a:t>
            </a:r>
            <a:r>
              <a:rPr lang="en-US" i="1" dirty="0">
                <a:ln w="0"/>
                <a:solidFill>
                  <a:prstClr val="black"/>
                </a:solidFill>
                <a:latin typeface="Fahkwang" panose="00000500000000000000" pitchFamily="2" charset="-34"/>
                <a:cs typeface="Fahkwang" panose="00000500000000000000" pitchFamily="2" charset="-34"/>
              </a:rPr>
              <a:t>.00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monto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separación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por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pagar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. (1 cliente).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US$ 62,362.67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corresponden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cuotas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pendientes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de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pago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(21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clientes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).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Fahkwang" panose="00000500000000000000" pitchFamily="2" charset="-34"/>
              <a:cs typeface="Fahkwang" panose="00000500000000000000" pitchFamily="2" charset="-34"/>
            </a:endParaRP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La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morosidad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no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supera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</a:t>
            </a:r>
            <a:r>
              <a:rPr kumimoji="0" lang="en-US" sz="1800" b="0" i="1" u="none" strike="noStrike" kern="0" cap="none" spc="0" normalizeH="0" baseline="0" noProof="0" dirty="0" err="1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el</a:t>
            </a:r>
            <a:r>
              <a:rPr kumimoji="0" lang="en-US" sz="1800" b="0" i="1" u="none" strike="noStrike" kern="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Fahkwang" panose="00000500000000000000" pitchFamily="2" charset="-34"/>
                <a:cs typeface="Fahkwang" panose="00000500000000000000" pitchFamily="2" charset="-34"/>
              </a:rPr>
              <a:t> 1%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1519B6-E1F3-0B4F-5C9B-F0DB28D5E3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4" t="17850" r="1189" b="9240"/>
          <a:stretch>
            <a:fillRect/>
          </a:stretch>
        </p:blipFill>
        <p:spPr>
          <a:xfrm>
            <a:off x="228600" y="2369404"/>
            <a:ext cx="7315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71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52844"/>
            <a:ext cx="6095999" cy="9323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669" y="67046"/>
            <a:ext cx="5788661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err="1">
                <a:latin typeface="Fahkwang" pitchFamily="2" charset="-34"/>
                <a:cs typeface="Fahkwang" pitchFamily="2" charset="-34"/>
              </a:rPr>
              <a:t>Comentarios</a:t>
            </a:r>
            <a:r>
              <a:rPr spc="-215" dirty="0">
                <a:latin typeface="Fahkwang" pitchFamily="2" charset="-34"/>
                <a:cs typeface="Fahkwang" pitchFamily="2" charset="-34"/>
              </a:rPr>
              <a:t> </a:t>
            </a:r>
            <a:r>
              <a:rPr spc="-10" dirty="0">
                <a:latin typeface="Fahkwang" pitchFamily="2" charset="-34"/>
                <a:cs typeface="Fahkwang" pitchFamily="2" charset="-34"/>
              </a:rPr>
              <a:t>Generales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58968" y="306117"/>
            <a:ext cx="2110225" cy="5400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47634-E5E7-CAF5-D104-F617B57635B2}"/>
              </a:ext>
            </a:extLst>
          </p:cNvPr>
          <p:cNvSpPr txBox="1"/>
          <p:nvPr/>
        </p:nvSpPr>
        <p:spPr>
          <a:xfrm>
            <a:off x="-1" y="1600200"/>
            <a:ext cx="121920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>
                <a:latin typeface="Fahkwang" pitchFamily="2" charset="-34"/>
                <a:cs typeface="Fahkwang" pitchFamily="2" charset="-34"/>
              </a:rPr>
              <a:t>Este mes logramos también superar la meta a 26 unidades reservadas. Se integró una inmobiliaria nueva y fue pase por obra de la bróker, coordinamos un zoom y reservaron. También Acervo aumento a 4 reservas.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>
                <a:latin typeface="Fahkwang" pitchFamily="2" charset="-34"/>
                <a:cs typeface="Fahkwang" pitchFamily="2" charset="-34"/>
              </a:rPr>
              <a:t>Este mes la inmobiliaria que mas vendió fue PUNTA CANA SOLUTIONS por una familia que reservo 9 unidades.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>
                <a:latin typeface="Fahkwang" pitchFamily="2" charset="-34"/>
                <a:cs typeface="Fahkwang" pitchFamily="2" charset="-34"/>
              </a:rPr>
              <a:t>Hicimos un patrocinio y participación física en Feria Nacional de </a:t>
            </a:r>
            <a:r>
              <a:rPr lang="es-ES_tradnl" dirty="0" err="1">
                <a:latin typeface="Fahkwang" pitchFamily="2" charset="-34"/>
                <a:cs typeface="Fahkwang" pitchFamily="2" charset="-34"/>
              </a:rPr>
              <a:t>Plusval</a:t>
            </a:r>
            <a:r>
              <a:rPr lang="es-ES_tradnl" dirty="0">
                <a:latin typeface="Fahkwang" pitchFamily="2" charset="-34"/>
                <a:cs typeface="Fahkwang" pitchFamily="2" charset="-34"/>
              </a:rPr>
              <a:t> y como resultado, tuvimos una visita al proyecto y el bloqueo de unidad, sin embargo, los clientes decidieron no comprar por la cercanía a </a:t>
            </a:r>
            <a:r>
              <a:rPr lang="es-ES_tradnl" dirty="0" err="1">
                <a:latin typeface="Fahkwang" pitchFamily="2" charset="-34"/>
                <a:cs typeface="Fahkwang" pitchFamily="2" charset="-34"/>
              </a:rPr>
              <a:t>Cpem</a:t>
            </a:r>
            <a:r>
              <a:rPr lang="es-ES_tradnl" dirty="0">
                <a:latin typeface="Fahkwang" pitchFamily="2" charset="-34"/>
                <a:cs typeface="Fahkwang" pitchFamily="2" charset="-34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>
                <a:latin typeface="Fahkwang" pitchFamily="2" charset="-34"/>
                <a:cs typeface="Fahkwang" pitchFamily="2" charset="-34"/>
              </a:rPr>
              <a:t>Nos encontramos dando atención y seguimiento a los leads que han entrado campaña SIMA Madrid. Hasta el momento tenemos 45 leads y 3 visitas coordinadas.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dirty="0">
                <a:latin typeface="Fahkwang" pitchFamily="2" charset="-34"/>
                <a:cs typeface="Fahkwang" pitchFamily="2" charset="-34"/>
              </a:rPr>
              <a:t>Por revisar el INVENTARIO y MIX de precios al cierre de Abril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_tradnl" dirty="0">
              <a:latin typeface="Fahkwang" pitchFamily="2" charset="-34"/>
              <a:cs typeface="Fahkwang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15498</TotalTime>
  <Words>549</Words>
  <Application>Microsoft Office PowerPoint</Application>
  <PresentationFormat>Widescreen</PresentationFormat>
  <Paragraphs>83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Fahkwang</vt:lpstr>
      <vt:lpstr>Fahkwang ExtraLight</vt:lpstr>
      <vt:lpstr>Verdana</vt:lpstr>
      <vt:lpstr>Office Theme</vt:lpstr>
      <vt:lpstr>PowerPoint Presentation</vt:lpstr>
      <vt:lpstr>Reservas Totales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Tiempo de Gestión por Etapas </vt:lpstr>
      <vt:lpstr>PowerPoint Presentation</vt:lpstr>
      <vt:lpstr>PowerPoint Presentation</vt:lpstr>
      <vt:lpstr>Comentarios Generales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Fabiola Ostos</dc:creator>
  <cp:lastModifiedBy>Fabiola Ostos</cp:lastModifiedBy>
  <cp:revision>36</cp:revision>
  <dcterms:created xsi:type="dcterms:W3CDTF">2025-08-06T20:06:20Z</dcterms:created>
  <dcterms:modified xsi:type="dcterms:W3CDTF">2026-05-06T19:36:26Z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2025-07-07T00:00:00Z</vt:filetime>
  </property>
  <property fmtid="{D5CDD505-2E9C-101B-9397-08002B2CF9AE}" pid="3" name="LastSaved">
    <vt:filetime>2025-08-06T00:00:00Z</vt:filetime>
  </property>
</Properties>
</file>