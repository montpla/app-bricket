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Programado</c:v>
                </c:pt>
              </c:strCache>
            </c:strRef>
          </c:tx>
          <c:spPr>
            <a:ln w="25400" cap="flat">
              <a:solidFill>
                <a:srgbClr val="60708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07080"/>
              </a:solidFill>
              <a:ln w="9525" cap="flat">
                <a:solidFill>
                  <a:srgbClr val="60708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jun-25</c:v>
                </c:pt>
                <c:pt idx="1">
                  <c:v>jul-25</c:v>
                </c:pt>
                <c:pt idx="2">
                  <c:v>ago-25</c:v>
                </c:pt>
                <c:pt idx="3">
                  <c:v>sep-25</c:v>
                </c:pt>
                <c:pt idx="4">
                  <c:v>oct-25</c:v>
                </c:pt>
                <c:pt idx="5">
                  <c:v>nov-25</c:v>
                </c:pt>
                <c:pt idx="6">
                  <c:v>dic-25</c:v>
                </c:pt>
                <c:pt idx="7">
                  <c:v>ene-26</c:v>
                </c:pt>
                <c:pt idx="8">
                  <c:v>feb-26</c:v>
                </c:pt>
                <c:pt idx="9">
                  <c:v>mar-26</c:v>
                </c:pt>
                <c:pt idx="10">
                  <c:v>abr-26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0.52</c:v>
                </c:pt>
                <c:pt idx="2">
                  <c:v>1.21</c:v>
                </c:pt>
                <c:pt idx="3">
                  <c:v>2.0699999999999998</c:v>
                </c:pt>
                <c:pt idx="4">
                  <c:v>2.76</c:v>
                </c:pt>
                <c:pt idx="5">
                  <c:v>3.7</c:v>
                </c:pt>
                <c:pt idx="6">
                  <c:v>4.1100000000000003</c:v>
                </c:pt>
                <c:pt idx="7">
                  <c:v>4.4800000000000004</c:v>
                </c:pt>
                <c:pt idx="8">
                  <c:v>4.97</c:v>
                </c:pt>
                <c:pt idx="9">
                  <c:v>6.72</c:v>
                </c:pt>
                <c:pt idx="10">
                  <c:v>11.07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B53-42B7-AEC6-E647DC3E15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Ejecutado</c:v>
                </c:pt>
              </c:strCache>
            </c:strRef>
          </c:tx>
          <c:spPr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jun-25</c:v>
                </c:pt>
                <c:pt idx="1">
                  <c:v>jul-25</c:v>
                </c:pt>
                <c:pt idx="2">
                  <c:v>ago-25</c:v>
                </c:pt>
                <c:pt idx="3">
                  <c:v>sep-25</c:v>
                </c:pt>
                <c:pt idx="4">
                  <c:v>oct-25</c:v>
                </c:pt>
                <c:pt idx="5">
                  <c:v>nov-25</c:v>
                </c:pt>
                <c:pt idx="6">
                  <c:v>dic-25</c:v>
                </c:pt>
                <c:pt idx="7">
                  <c:v>ene-26</c:v>
                </c:pt>
                <c:pt idx="8">
                  <c:v>feb-26</c:v>
                </c:pt>
                <c:pt idx="9">
                  <c:v>mar-26</c:v>
                </c:pt>
                <c:pt idx="10">
                  <c:v>abr-26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0.31</c:v>
                </c:pt>
                <c:pt idx="2">
                  <c:v>0.94</c:v>
                </c:pt>
                <c:pt idx="3">
                  <c:v>1.88</c:v>
                </c:pt>
                <c:pt idx="4">
                  <c:v>2.5099999999999998</c:v>
                </c:pt>
                <c:pt idx="5">
                  <c:v>3.45</c:v>
                </c:pt>
                <c:pt idx="6">
                  <c:v>3.83</c:v>
                </c:pt>
                <c:pt idx="7">
                  <c:v>4.47</c:v>
                </c:pt>
                <c:pt idx="8">
                  <c:v>4.47</c:v>
                </c:pt>
                <c:pt idx="9">
                  <c:v>6.05</c:v>
                </c:pt>
                <c:pt idx="10">
                  <c:v>11.59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B53-42B7-AEC6-E647DC3E15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15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A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ar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005840"/>
            <a:ext cx="402336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2331720"/>
            <a:ext cx="640080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 AVANCE DE OBRA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11.07%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Programado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11.59%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291840" y="4663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Ejecutado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+0.52%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4663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GENERAL DE OBRA</a:t>
            </a:r>
            <a:endParaRPr lang="en-US" sz="2000" dirty="0"/>
          </a:p>
        </p:txBody>
      </p:sp>
      <p:pic>
        <p:nvPicPr>
          <p:cNvPr id="4" name="Image 0" descr="/home/claude/logo_ar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77724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91440" cy="132588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8229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11.07%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77724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777240"/>
            <a:ext cx="91440" cy="1325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37560" y="8229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11.59%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337560" y="1554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777240"/>
            <a:ext cx="27432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26480" y="777240"/>
            <a:ext cx="91440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63640" y="82296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+0.52%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263640" y="1554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2240280"/>
          <a:ext cx="8595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FÍSICO EN OBRA — Abril 2026</a:t>
            </a:r>
            <a:endParaRPr lang="en-US" sz="2000" dirty="0"/>
          </a:p>
        </p:txBody>
      </p:sp>
      <p:pic>
        <p:nvPicPr>
          <p:cNvPr id="4" name="Image 0" descr="/home/claude/logo_ar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046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73152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8412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Edificios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1148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Superestructura levantada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103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Trabajando en Edificio #9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8046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92040" y="8412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Plateas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9204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Plateas vaciadas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40880" y="1033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Trabajando en Platea #11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17190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1719072"/>
            <a:ext cx="7315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Edificios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148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en escaleras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60320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curso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17190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54880" y="1719072"/>
            <a:ext cx="73152" cy="8046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9204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Edificios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9204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en estucado interno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40880" y="1947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curso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26334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74320" y="2633472"/>
            <a:ext cx="73152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1480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Edificios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41148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en resane interno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60320" y="2862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curso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54880" y="26334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54880" y="2633472"/>
            <a:ext cx="7315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92040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Edificios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89204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Edificios en pendientes techo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040880" y="2862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curso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74320" y="35478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274320" y="3547872"/>
            <a:ext cx="73152" cy="8046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11480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Ejecución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41148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Caseta de vigilancia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560320" y="3776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en proceso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754880" y="35478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754880" y="3547872"/>
            <a:ext cx="73152" cy="8046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892040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Ejecución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489204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Vialidad de entrada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040880" y="3776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en proceso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274320" y="4462272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274320" y="4462272"/>
            <a:ext cx="7315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411480" y="4498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Ejecución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411480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portal de entrada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2560320" y="4690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en proceso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ACTIVIDADES — Abril 2026</a:t>
            </a:r>
            <a:endParaRPr lang="en-US" sz="2000" dirty="0"/>
          </a:p>
        </p:txBody>
      </p:sp>
      <p:pic>
        <p:nvPicPr>
          <p:cNvPr id="4" name="Image 0" descr="/home/claude/logo_ar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5029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78561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Retraso (días)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Tendencia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Encofrado de apartamentos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0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✓ En programa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Escaleras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12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↑ Mejora (era 20d)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Pendientes de techo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12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</a:rPr>
                        <a:t>↑ Mejora (era 20d)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Platea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16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07080"/>
                          </a:solidFill>
                        </a:rPr>
                        <a:t>Sin ruta crítica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Bajo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Colocación de cerámica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9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07080"/>
                          </a:solidFill>
                        </a:rPr>
                        <a:t>En seguimiento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Revestimiento de escalera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</a:rPr>
                        <a:t>9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07080"/>
                          </a:solidFill>
                        </a:rPr>
                        <a:t>En seguimiento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Resane exterior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24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</a:rPr>
                        <a:t>⚠ Afecta estucado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ALTO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Tablilla exterior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24 días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5100"/>
                          </a:solidFill>
                        </a:rPr>
                        <a:t>Acción en curso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ALTO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 Y ALERTAS DE GESTIÓN</a:t>
            </a:r>
            <a:endParaRPr lang="en-US" sz="1700" dirty="0"/>
          </a:p>
        </p:txBody>
      </p:sp>
      <p:pic>
        <p:nvPicPr>
          <p:cNvPr id="4" name="Image 0" descr="/home/claude/logo_ar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ACCIONES EN CURSO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123444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73152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261872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de andamios adicionales para abrir nuevos frentes de trabajo en la parte externa de los edificios, acelerando el resane, estucado y tablilla exterior.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2860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2286000"/>
            <a:ext cx="73152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2313432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activa de contratista adicional para la ejecución de la tablilla exterior, con el fin de reforzar la capacidad operativa y recuperar los días de retraso.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0" y="777240"/>
            <a:ext cx="411480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DECISIONES URGENTES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23444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4880" y="1234440"/>
            <a:ext cx="7315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92040" y="1280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Ventanería y Carpintería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2040" y="1572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contrataciones de manera inmediata. Con los meses de alta productividad próximos, la demora puede convertirse en cuello de botella.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246888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0" y="2468880"/>
            <a:ext cx="7315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92040" y="2514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Cerámica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8072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y aprobar el tipo de cerámica para proceder con la compra y garantizar disponibilidad en obra a tiempo.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37033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0" y="3703320"/>
            <a:ext cx="7315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9204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Revestimiento de Escaleras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92040" y="40416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tipo de revestimiento para las escaleras, decisión que impacta la planificación y selección del contratista.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decisiones deben ser atendidas a la brevedad para no convertirse en restricciones durante la fase de mayor productividad (jun–oct 2026)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logo_ar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"/>
            <a:ext cx="210312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228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Abril 2026 — Proyecto Araya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8412480" cy="2743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1B5E8A">
              <a:alpha val="25000"/>
            </a:srgbClr>
          </a:solidFill>
          <a:ln w="63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73152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126187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05840" y="126187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registra un avance ejecutado de 11.59% vs 11.07% programado, con una desviación positiva de +0.52%, indicando que la obra está adelantada respecto al cronograma.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121408"/>
            <a:ext cx="8412480" cy="804672"/>
          </a:xfrm>
          <a:prstGeom prst="rect">
            <a:avLst/>
          </a:prstGeom>
          <a:solidFill>
            <a:srgbClr val="1B5E8A">
              <a:alpha val="25000"/>
            </a:srgbClr>
          </a:solidFill>
          <a:ln w="63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121408"/>
            <a:ext cx="73152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2920" y="21488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05840" y="214884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observan mejoras en actividades clave: escaleras redujo su retraso de 20 a 12 días y pendientes de techo de 20 a 12 días, evidenciando efectividad en el seguimiento.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3008376"/>
            <a:ext cx="8412480" cy="804672"/>
          </a:xfrm>
          <a:prstGeom prst="rect">
            <a:avLst/>
          </a:prstGeom>
          <a:solidFill>
            <a:srgbClr val="1B5E8A">
              <a:alpha val="25000"/>
            </a:srgbClr>
          </a:solidFill>
          <a:ln w="63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3008376"/>
            <a:ext cx="73152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303580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05840" y="303580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resane exterior (24 días de retraso) representa la restricción más crítica al impactar directamente el estucado exterior. La tablilla exterior (24 días) también requiere atención prioritaria.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3895344"/>
            <a:ext cx="8412480" cy="804672"/>
          </a:xfrm>
          <a:prstGeom prst="rect">
            <a:avLst/>
          </a:prstGeom>
          <a:solidFill>
            <a:srgbClr val="1B5E8A">
              <a:alpha val="25000"/>
            </a:srgbClr>
          </a:solidFill>
          <a:ln w="635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65760" y="3895344"/>
            <a:ext cx="73152" cy="8046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2920" y="392277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005840" y="3922776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urgente cerrar las contrataciones de ventanería y carpintería, y definir el tipo de cerámica y revestimiento de escaleras antes de iniciar la fase de alta productividad (jun-oct 2026).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Junio 2025  |  Culminación prevista: Agosto 2027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523</Words>
  <Application>Microsoft Office PowerPoint</Application>
  <PresentationFormat>Presentación en pantalla (16:9)</PresentationFormat>
  <Paragraphs>112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Araya - Informe de Avance Abril 2026</dc:title>
  <dc:subject>PptxGenJS Presentation</dc:subject>
  <dc:creator>PptxGenJS</dc:creator>
  <cp:lastModifiedBy>ernesto Alvarez</cp:lastModifiedBy>
  <cp:revision>2</cp:revision>
  <dcterms:created xsi:type="dcterms:W3CDTF">2026-05-09T12:58:05Z</dcterms:created>
  <dcterms:modified xsi:type="dcterms:W3CDTF">2026-05-09T14:25:02Z</dcterms:modified>
</cp:coreProperties>
</file>